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6663F9-3B4E-4C25-B36E-C560DE40AA63}">
  <a:tblStyle styleId="{BD6663F9-3B4E-4C25-B36E-C560DE40AA6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007F76">
              <a:alpha val="20000"/>
            </a:srgbClr>
          </a:solidFill>
          <a:ln cap="flat" cmpd="sng" w="12700">
            <a:solidFill>
              <a:srgbClr val="007F7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900225" y="4376402"/>
            <a:ext cx="3589200" cy="3024000"/>
          </a:xfrm>
          <a:prstGeom prst="ellipse">
            <a:avLst/>
          </a:prstGeom>
          <a:solidFill>
            <a:srgbClr val="007F76">
              <a:alpha val="14902"/>
            </a:srgbClr>
          </a:solidFill>
          <a:ln cap="flat" cmpd="sng" w="15300">
            <a:solidFill>
              <a:srgbClr val="007F76">
                <a:alpha val="1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050" lIns="110050" spcFirstLastPara="1" rIns="110050" wrap="square" tIns="11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95900" y="502925"/>
            <a:ext cx="5305200" cy="502500"/>
          </a:xfrm>
          <a:prstGeom prst="roundRect">
            <a:avLst>
              <a:gd fmla="val 27778" name="adj"/>
            </a:avLst>
          </a:prstGeom>
          <a:solidFill>
            <a:srgbClr val="00B4A6"/>
          </a:solidFill>
          <a:ln cap="flat" cmpd="sng" w="194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9575" lIns="139575" spcFirstLastPara="1" rIns="139575" wrap="square" tIns="13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995900" y="502925"/>
            <a:ext cx="53052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800" lIns="139575" spcFirstLastPara="1" rIns="139575" wrap="square" tIns="6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21"/>
              <a:buFont typeface="Calibri"/>
              <a:buNone/>
            </a:pPr>
            <a:r>
              <a:rPr b="1" i="0" lang="en-US" sz="1421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INTERIM REVIEW </a:t>
            </a:r>
            <a:r>
              <a:rPr b="1" i="0" lang="en-US" sz="1421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i="0" lang="en-US" sz="1421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•  B.TECH FINAL YEAR</a:t>
            </a:r>
            <a:endParaRPr b="0" i="0" sz="14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95900" y="1163383"/>
            <a:ext cx="88062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025" lIns="110050" spcFirstLastPara="1" rIns="110050" wrap="square" tIns="55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04"/>
              <a:buFont typeface="Calibri"/>
              <a:buNone/>
            </a:pPr>
            <a:r>
              <a:rPr b="1" i="0" lang="en-US" sz="770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NexusERP</a:t>
            </a:r>
            <a:endParaRPr b="0" i="0" sz="7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95900" y="2484296"/>
            <a:ext cx="99069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025" lIns="110050" spcFirstLastPara="1" rIns="110050" wrap="square" tIns="55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167"/>
              <a:buFont typeface="Calibri"/>
              <a:buNone/>
            </a:pPr>
            <a:r>
              <a:rPr b="0" i="0" lang="en-US" sz="24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AI-Based Inventory &amp; Sales Forecasting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167"/>
              <a:buFont typeface="Calibri"/>
              <a:buNone/>
            </a:pPr>
            <a:r>
              <a:rPr b="0" i="0" lang="en-US" sz="24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for Small Business ERP Management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95900" y="3836409"/>
            <a:ext cx="4953300" cy="33000"/>
          </a:xfrm>
          <a:prstGeom prst="rect">
            <a:avLst/>
          </a:prstGeom>
          <a:solidFill>
            <a:srgbClr val="A8BFCC"/>
          </a:solidFill>
          <a:ln cap="flat" cmpd="sng" w="15300">
            <a:solidFill>
              <a:srgbClr val="A8B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050" lIns="110050" spcFirstLastPara="1" rIns="110050" wrap="square" tIns="11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95900" y="4120835"/>
            <a:ext cx="9906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025" lIns="110050" spcFirstLastPara="1" rIns="110050" wrap="square" tIns="55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1445"/>
              <a:buFont typeface="Calibri"/>
              <a:buNone/>
            </a:pPr>
            <a:r>
              <a:rPr b="0" i="0" lang="en-US" sz="1645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b="0" i="0" sz="16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1445"/>
              <a:buFont typeface="Calibri"/>
              <a:buNone/>
            </a:pPr>
            <a:r>
              <a:rPr b="0" i="0" lang="en-US" sz="1645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Amal Jyothi College of Engineering (Autonomous), Erumely</a:t>
            </a:r>
            <a:endParaRPr b="0" i="0" sz="16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95900" y="5063880"/>
            <a:ext cx="9906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025" lIns="110050" spcFirstLastPara="1" rIns="110050" wrap="square" tIns="55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565"/>
              <a:buFont typeface="Calibri"/>
              <a:buNone/>
            </a:pPr>
            <a:r>
              <a:rPr b="1" i="0" lang="en-US" sz="18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Presented by: Albin Joseph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800"/>
              <a:buFont typeface="Calibri"/>
              <a:buNone/>
            </a:pPr>
            <a:r>
              <a:rPr b="1" i="0" lang="en-US" sz="26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Problem Statement &amp; Motivation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896112"/>
            <a:ext cx="1124712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1051551"/>
            <a:ext cx="5486400" cy="4450800"/>
          </a:xfrm>
          <a:prstGeom prst="roundRect">
            <a:avLst>
              <a:gd fmla="val 1852" name="adj"/>
            </a:avLst>
          </a:prstGeom>
          <a:solidFill>
            <a:srgbClr val="1A2E44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40080" y="1278575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1" i="0" sz="1800" u="none" cap="none" strike="noStrike">
              <a:solidFill>
                <a:srgbClr val="00B4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400"/>
              <a:buFont typeface="Calibri"/>
              <a:buNone/>
            </a:pPr>
            <a:r>
              <a:t/>
            </a:r>
            <a:endParaRPr b="1" sz="1800">
              <a:solidFill>
                <a:srgbClr val="00B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50" y="1783099"/>
            <a:ext cx="5120700" cy="44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Small businesses rely on manual or spreadsheet-based inventory tracking</a:t>
            </a:r>
            <a:endParaRPr b="0" i="0" sz="1600" u="none" cap="none" strike="noStrike">
              <a:solidFill>
                <a:srgbClr val="E8F0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8F0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No affordable, integrated ERP tool with built-in demand intelligence exists for SMEs</a:t>
            </a:r>
            <a:endParaRPr b="0" i="0" sz="1600" u="none" cap="none" strike="noStrike">
              <a:solidFill>
                <a:srgbClr val="E8F0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8F0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Overstocking ties up capital; </a:t>
            </a:r>
            <a:r>
              <a:rPr lang="en-US" sz="1600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stock outs</a:t>
            </a:r>
            <a:r>
              <a:rPr b="0" i="0" lang="en-US" sz="16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 cause lost revenue and poor customer experience</a:t>
            </a:r>
            <a:endParaRPr b="0" i="0" sz="1600" u="none" cap="none" strike="noStrike">
              <a:solidFill>
                <a:srgbClr val="E8F0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8F0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Manual forecasting is slow, error-prone, and inaccessible to non-technical owners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217925" y="1051549"/>
            <a:ext cx="5486400" cy="2455500"/>
          </a:xfrm>
          <a:prstGeom prst="roundRect">
            <a:avLst>
              <a:gd fmla="val 4000" name="adj"/>
            </a:avLst>
          </a:prstGeom>
          <a:solidFill>
            <a:srgbClr val="1A2E44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400800" y="11430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400800" y="1598685"/>
            <a:ext cx="51207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Poor inventory control is a top cause of small-business margin erosion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AI advisory layer needs zero extra staff — runs automatically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NexusERP bridges the ERP gap: lightweight, web-based, AI-integrated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217925" y="3639525"/>
            <a:ext cx="5486400" cy="2594400"/>
          </a:xfrm>
          <a:prstGeom prst="roundRect">
            <a:avLst>
              <a:gd fmla="val 3704" name="adj"/>
            </a:avLst>
          </a:prstGeom>
          <a:solidFill>
            <a:srgbClr val="1A2E44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400800" y="3739880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795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3AB795"/>
                </a:solidFill>
                <a:latin typeface="Calibri"/>
                <a:ea typeface="Calibri"/>
                <a:cs typeface="Calibri"/>
                <a:sym typeface="Calibri"/>
              </a:rPr>
              <a:t>NexusERP Solution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400800" y="4206260"/>
            <a:ext cx="51207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React + FastAPI + SQLite: working prototype already delivered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POS billing auto-deducts stock; Excel export for records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AI forecasting planned using real recorded sales history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5F8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2800"/>
              <a:buFont typeface="Calibri"/>
              <a:buNone/>
            </a:pPr>
            <a:r>
              <a:rPr b="1" i="0" lang="en-US" sz="30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Objectives &amp; Scope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57200" y="896112"/>
            <a:ext cx="11247120" cy="27432"/>
          </a:xfrm>
          <a:prstGeom prst="rect">
            <a:avLst/>
          </a:prstGeom>
          <a:solidFill>
            <a:srgbClr val="007F76"/>
          </a:solidFill>
          <a:ln cap="flat" cmpd="sng" w="127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30863" y="1070050"/>
            <a:ext cx="5813400" cy="5092800"/>
          </a:xfrm>
          <a:prstGeom prst="roundRect">
            <a:avLst>
              <a:gd fmla="val 1852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40080" y="11430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007F76"/>
          </a:solidFill>
          <a:ln cap="flat" cmpd="sng" w="127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685800" y="160020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143013" y="1472188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Build a lightweight, web-based ERP for small businesses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85800" y="2377440"/>
            <a:ext cx="384048" cy="384048"/>
          </a:xfrm>
          <a:prstGeom prst="ellipse">
            <a:avLst/>
          </a:prstGeom>
          <a:solidFill>
            <a:srgbClr val="007F76"/>
          </a:solidFill>
          <a:ln cap="flat" cmpd="sng" w="127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85800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43000" y="2249428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Implement Inventory CRUD with low-stock alerts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85800" y="3154680"/>
            <a:ext cx="384048" cy="384048"/>
          </a:xfrm>
          <a:prstGeom prst="ellipse">
            <a:avLst/>
          </a:prstGeom>
          <a:solidFill>
            <a:srgbClr val="007F76"/>
          </a:solidFill>
          <a:ln cap="flat" cmpd="sng" w="127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85800" y="3154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143000" y="3090743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Deliver POS billing with auto stock deduction &amp; Excel export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85800" y="3931920"/>
            <a:ext cx="384048" cy="384048"/>
          </a:xfrm>
          <a:prstGeom prst="ellipse">
            <a:avLst/>
          </a:prstGeom>
          <a:solidFill>
            <a:srgbClr val="007F76"/>
          </a:solidFill>
          <a:ln cap="flat" cmpd="sng" w="127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85800" y="3931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143000" y="393192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Integrate AI/ML demand forecasting using historical sales data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85800" y="4709160"/>
            <a:ext cx="384048" cy="384048"/>
          </a:xfrm>
          <a:prstGeom prst="ellipse">
            <a:avLst/>
          </a:prstGeom>
          <a:solidFill>
            <a:srgbClr val="007F76"/>
          </a:solidFill>
          <a:ln cap="flat" cmpd="sng" w="127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85800" y="4709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143013" y="4580285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Provide actionable, non-technical analytics dashboard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891900" y="1074450"/>
            <a:ext cx="3874800" cy="2394000"/>
          </a:xfrm>
          <a:prstGeom prst="roundRect">
            <a:avLst>
              <a:gd fmla="val 3922" name="adj"/>
            </a:avLst>
          </a:prstGeom>
          <a:solidFill>
            <a:srgbClr val="FFFFFF"/>
          </a:solidFill>
          <a:ln cap="flat" cmpd="sng" w="977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875" lIns="93875" spcFirstLastPara="1" rIns="93875" wrap="square" tIns="93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7145980" y="1168338"/>
            <a:ext cx="3303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875" spcFirstLastPara="1" rIns="93875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795"/>
              </a:buClr>
              <a:buSzPts val="1335"/>
              <a:buFont typeface="Calibri"/>
              <a:buNone/>
            </a:pPr>
            <a:r>
              <a:rPr b="1" i="0" lang="en-US" sz="1635" u="none" cap="none" strike="noStrike">
                <a:solidFill>
                  <a:srgbClr val="3AB795"/>
                </a:solidFill>
                <a:latin typeface="Calibri"/>
                <a:ea typeface="Calibri"/>
                <a:cs typeface="Calibri"/>
                <a:sym typeface="Calibri"/>
              </a:rPr>
              <a:t>✓ In Scope</a:t>
            </a:r>
            <a:endParaRPr b="0" i="0" sz="16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145980" y="1515726"/>
            <a:ext cx="3429900" cy="17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133" lvl="0" marL="352082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635"/>
              <a:buFont typeface="Calibri"/>
              <a:buChar char="•"/>
            </a:pPr>
            <a:r>
              <a:rPr b="0" i="0" lang="en-US" sz="1635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Inventory management</a:t>
            </a:r>
            <a:endParaRPr b="0" i="0" sz="16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133" lvl="0" marL="352082" marR="0" rtl="0" algn="l">
              <a:spcBef>
                <a:spcPts val="616"/>
              </a:spcBef>
              <a:spcAft>
                <a:spcPts val="0"/>
              </a:spcAft>
              <a:buClr>
                <a:srgbClr val="1A2E44"/>
              </a:buClr>
              <a:buSzPts val="1635"/>
              <a:buFont typeface="Calibri"/>
              <a:buChar char="•"/>
            </a:pPr>
            <a:r>
              <a:rPr b="0" i="0" lang="en-US" sz="1635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POS &amp; billing module</a:t>
            </a:r>
            <a:endParaRPr b="0" i="0" sz="16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133" lvl="0" marL="352082" marR="0" rtl="0" algn="l">
              <a:spcBef>
                <a:spcPts val="616"/>
              </a:spcBef>
              <a:spcAft>
                <a:spcPts val="0"/>
              </a:spcAft>
              <a:buClr>
                <a:srgbClr val="1A2E44"/>
              </a:buClr>
              <a:buSzPts val="1635"/>
              <a:buFont typeface="Calibri"/>
              <a:buChar char="•"/>
            </a:pPr>
            <a:r>
              <a:rPr b="0" i="0" lang="en-US" sz="1635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Sales analytics &amp; reports</a:t>
            </a:r>
            <a:endParaRPr b="0" i="0" sz="16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133" lvl="0" marL="352082" marR="0" rtl="0" algn="l">
              <a:spcBef>
                <a:spcPts val="616"/>
              </a:spcBef>
              <a:spcAft>
                <a:spcPts val="0"/>
              </a:spcAft>
              <a:buClr>
                <a:srgbClr val="1A2E44"/>
              </a:buClr>
              <a:buSzPts val="1635"/>
              <a:buFont typeface="Calibri"/>
              <a:buChar char="•"/>
            </a:pPr>
            <a:r>
              <a:rPr b="0" i="0" lang="en-US" sz="1635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AI demand forecasting</a:t>
            </a:r>
            <a:endParaRPr b="0" i="0" sz="16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891900" y="3656381"/>
            <a:ext cx="3874800" cy="2487900"/>
          </a:xfrm>
          <a:prstGeom prst="roundRect">
            <a:avLst>
              <a:gd fmla="val 3774" name="adj"/>
            </a:avLst>
          </a:prstGeom>
          <a:solidFill>
            <a:srgbClr val="FFFFFF"/>
          </a:solidFill>
          <a:ln cap="flat" cmpd="sng" w="977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875" lIns="93875" spcFirstLastPara="1" rIns="93875" wrap="square" tIns="93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7"/>
          </a:p>
        </p:txBody>
      </p:sp>
      <p:sp>
        <p:nvSpPr>
          <p:cNvPr id="72" name="Google Shape;72;p5"/>
          <p:cNvSpPr/>
          <p:nvPr/>
        </p:nvSpPr>
        <p:spPr>
          <a:xfrm>
            <a:off x="7145980" y="3750270"/>
            <a:ext cx="3303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875" spcFirstLastPara="1" rIns="93875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335"/>
              <a:buFont typeface="Calibri"/>
              <a:buNone/>
            </a:pPr>
            <a:r>
              <a:rPr b="1" i="0" lang="en-US" sz="1635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✗ Out of Scope</a:t>
            </a:r>
            <a:endParaRPr b="0" i="0" sz="16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145980" y="4125823"/>
            <a:ext cx="3429900" cy="17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133" lvl="0" marL="352082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635"/>
              <a:buFont typeface="Calibri"/>
              <a:buChar char="•"/>
            </a:pPr>
            <a:r>
              <a:rPr b="0" i="0" lang="en-US" sz="1635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Multi-user/role management</a:t>
            </a:r>
            <a:endParaRPr b="0" i="0" sz="16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133" lvl="0" marL="352082" marR="0" rtl="0" algn="l">
              <a:spcBef>
                <a:spcPts val="616"/>
              </a:spcBef>
              <a:spcAft>
                <a:spcPts val="0"/>
              </a:spcAft>
              <a:buClr>
                <a:srgbClr val="1A2E44"/>
              </a:buClr>
              <a:buSzPts val="1635"/>
              <a:buFont typeface="Calibri"/>
              <a:buChar char="•"/>
            </a:pPr>
            <a:r>
              <a:rPr b="0" i="0" lang="en-US" sz="1635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Cloud hosting / SaaS deployment</a:t>
            </a:r>
            <a:endParaRPr b="0" i="0" sz="16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133" lvl="0" marL="352082" marR="0" rtl="0" algn="l">
              <a:spcBef>
                <a:spcPts val="616"/>
              </a:spcBef>
              <a:spcAft>
                <a:spcPts val="0"/>
              </a:spcAft>
              <a:buClr>
                <a:srgbClr val="1A2E44"/>
              </a:buClr>
              <a:buSzPts val="1635"/>
              <a:buFont typeface="Calibri"/>
              <a:buChar char="•"/>
            </a:pPr>
            <a:r>
              <a:rPr b="0" i="0" lang="en-US" sz="1635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Supplier &amp; procurement module</a:t>
            </a:r>
            <a:endParaRPr b="0" i="0" sz="16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1133" lvl="0" marL="352082" marR="0" rtl="0" algn="l">
              <a:spcBef>
                <a:spcPts val="616"/>
              </a:spcBef>
              <a:spcAft>
                <a:spcPts val="0"/>
              </a:spcAft>
              <a:buClr>
                <a:srgbClr val="1A2E44"/>
              </a:buClr>
              <a:buSzPts val="1635"/>
              <a:buFont typeface="Calibri"/>
              <a:buChar char="•"/>
            </a:pPr>
            <a:r>
              <a:rPr b="0" i="0" lang="en-US" sz="1635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Mobile app (Android/iOS)</a:t>
            </a:r>
            <a:endParaRPr b="0" i="0" sz="16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1000"/>
              <a:buFont typeface="Calibri"/>
              <a:buNone/>
            </a:pPr>
            <a:r>
              <a:rPr b="0" i="1" lang="en-US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Review </a:t>
            </a:r>
            <a:r>
              <a:rPr i="1" lang="en-US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1" lang="en-US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 Target: ~50% implementation complete (core modules + AI layer initiation)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472388" y="15439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57200" y="657212"/>
            <a:ext cx="11247000" cy="27300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p6"/>
          <p:cNvGraphicFramePr/>
          <p:nvPr/>
        </p:nvGraphicFramePr>
        <p:xfrm>
          <a:off x="457200" y="834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{BD6663F9-3B4E-4C25-B36E-C560DE40AA63}</a:tableStyleId>
              </a:tblPr>
              <a:tblGrid>
                <a:gridCol w="2477175"/>
                <a:gridCol w="2369175"/>
                <a:gridCol w="3717825"/>
                <a:gridCol w="2786475"/>
              </a:tblGrid>
              <a:tr h="1005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 &amp; Year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4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 / Model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4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Contribution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4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 / Gap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4A6"/>
                    </a:solidFill>
                  </a:tcPr>
                </a:tc>
              </a:tr>
              <a:tr h="1005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 Silva et al.(2026)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RF, XGBoost, SARIMA, Holt-Winters, CRITIC scoring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E8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Combining classification with forecasting improves accuracy for irregular demand patterns 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BF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A8BF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large historical data; limited SME focus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</a:tr>
              <a:tr h="1005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Goulart et al.(2026)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AutoML: DeepAR+, Prophet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Predictive models via AutoML for inventory optimization; scalable pipeline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BF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A8BF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Black-box; dependent on data quality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2"/>
                    </a:solidFill>
                  </a:tcPr>
                </a:tc>
              </a:tr>
              <a:tr h="1005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Basavaraju et al.(2025)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Demand planning + ERP integration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Links forecasting to ERP workflows; ~90% MAPE accuracy in demand planning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BF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A8BF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Specific to large ERP setups; not lightweight for SMEs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E44"/>
                    </a:solidFill>
                  </a:tcPr>
                </a:tc>
              </a:tr>
              <a:tr h="1005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8F0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Douaioui et al.(2024)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ML/DL review: LSTM, RF, XGBoost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Systematic ML/DL review for demand forecasting; highlights AI gap in SME adoption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BFC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A8BF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 only — no implementation; SME gap unaddressed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7F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84" name="Google Shape;84;p6"/>
          <p:cNvSpPr/>
          <p:nvPr/>
        </p:nvSpPr>
        <p:spPr>
          <a:xfrm>
            <a:off x="472438" y="6238705"/>
            <a:ext cx="11247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000"/>
              <a:buFont typeface="Calibri"/>
              <a:buNone/>
            </a:pPr>
            <a:r>
              <a:rPr b="0" i="1" lang="en-US" sz="13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Gap: No prior work combines AI forecasting + lightweight ERP in one affordable package purpose-built for SMEs — the focus of NexusERP.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472450" y="1839800"/>
            <a:ext cx="246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Combining demand classification and forecasting models in spare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parts inventory management for the energy sector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472450" y="2845425"/>
            <a:ext cx="246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Predictive models for inventory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optimization: a machine learning application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demand forecasting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472400" y="3861225"/>
            <a:ext cx="2461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Developing a demand planning strategy for joint forecasting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employing analytical tool in an empirical case study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472450" y="4867025"/>
            <a:ext cx="2461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Machine Learning and Deep Learning Models for Demand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Forecasting in Supply Chain Management: A Critical Review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5F8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Feasibility Study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57200" y="896112"/>
            <a:ext cx="11247120" cy="27432"/>
          </a:xfrm>
          <a:prstGeom prst="rect">
            <a:avLst/>
          </a:prstGeom>
          <a:solidFill>
            <a:srgbClr val="007F76"/>
          </a:solidFill>
          <a:ln cap="flat" cmpd="sng" w="127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57200" y="1051560"/>
            <a:ext cx="5486400" cy="246888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640080" y="1161288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T  Technical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85800" y="1508760"/>
            <a:ext cx="5074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React + Vite, FastAPI, SQLite — mature, open-source stack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Prophet/sklearn handle time-series forecasting with minimal tuning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All components open-source; no proprietary licensing risk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Team expertise across the full stack reduces ramp-up time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217920" y="1051560"/>
            <a:ext cx="5486400" cy="246888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400800" y="1161288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795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3AB795"/>
                </a:solidFill>
                <a:latin typeface="Calibri"/>
                <a:ea typeface="Calibri"/>
                <a:cs typeface="Calibri"/>
                <a:sym typeface="Calibri"/>
              </a:rPr>
              <a:t>$  Economic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446520" y="1508760"/>
            <a:ext cx="5074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Zero cost — entirely open-source toolchain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SQLite: no server costs; local DB standardized (no inconsistency)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No paid APIs or licensed forecasting models required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Low overhead makes NexusERP affordable for small businesses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57200" y="3657600"/>
            <a:ext cx="5486400" cy="246888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40080" y="3767328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O  Operational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85800" y="4114800"/>
            <a:ext cx="5074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Directly solves overstocking/stockout pain for small business owners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Intuitive UI; non-tech-savvy users can operate without training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AI advisory layer — not mandatory, complements existing workflows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POS + Excel export mirrors familiar billing workflows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217920" y="3657600"/>
            <a:ext cx="5486400" cy="246888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400800" y="3767328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S  Schedule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446520" y="4114800"/>
            <a:ext cx="5074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Working prototype delivered at Review 1 (Inventory + POS)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Review 2 target: reporting, analytics, AI forecasting initiation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Phased plan keeps deliverables on track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Target final completion: Oct / Nov 2026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/>
          <p:nvPr/>
        </p:nvSpPr>
        <p:spPr>
          <a:xfrm>
            <a:off x="457200" y="320050"/>
            <a:ext cx="113397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823"/>
              <a:buFont typeface="Calibri"/>
              <a:buNone/>
            </a:pPr>
            <a:r>
              <a:rPr b="1" i="0" lang="en-US" sz="2823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Requirements Summary</a:t>
            </a:r>
            <a:endParaRPr b="0" i="0" sz="28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57200" y="940822"/>
            <a:ext cx="11339700" cy="29400"/>
          </a:xfrm>
          <a:prstGeom prst="rect">
            <a:avLst/>
          </a:prstGeom>
          <a:solidFill>
            <a:srgbClr val="00B4A6"/>
          </a:solidFill>
          <a:ln cap="flat" cmpd="sng" w="128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57200" y="1108331"/>
            <a:ext cx="5531400" cy="5321100"/>
          </a:xfrm>
          <a:prstGeom prst="roundRect">
            <a:avLst>
              <a:gd fmla="val 1852" name="adj"/>
            </a:avLst>
          </a:prstGeom>
          <a:solidFill>
            <a:srgbClr val="1A2E44"/>
          </a:solidFill>
          <a:ln cap="flat" cmpd="sng" w="9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641584" y="1206866"/>
            <a:ext cx="5162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412"/>
              <a:buFont typeface="Calibri"/>
              <a:buNone/>
            </a:pPr>
            <a:r>
              <a:rPr b="1" i="0" lang="en-US" sz="1612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 b="0" i="0" sz="16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733776" y="1699542"/>
            <a:ext cx="1198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9"/>
              <a:buFont typeface="Calibri"/>
              <a:buNone/>
            </a:pPr>
            <a:r>
              <a:rPr b="1" i="0" lang="en-US" sz="1409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Inventory: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978369" y="1591142"/>
            <a:ext cx="3780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109"/>
              <a:buFont typeface="Calibri"/>
              <a:buNone/>
            </a:pPr>
            <a:r>
              <a:rPr b="0" i="0" lang="en-US" sz="1409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Add / edit / delete products; real-time stock tracking; low-stock alerts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733776" y="2623266"/>
            <a:ext cx="1198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9"/>
              <a:buFont typeface="Calibri"/>
              <a:buNone/>
            </a:pPr>
            <a:r>
              <a:rPr b="1" i="0" lang="en-US" sz="1409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POS Billing: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1978369" y="2537091"/>
            <a:ext cx="3780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109"/>
              <a:buFont typeface="Calibri"/>
              <a:buNone/>
            </a:pPr>
            <a:r>
              <a:rPr b="0" i="0" lang="en-US" sz="1409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Record sale, auto-deduct stock, generate bill; list recent transactions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733776" y="3546990"/>
            <a:ext cx="1198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9"/>
              <a:buFont typeface="Calibri"/>
              <a:buNone/>
            </a:pPr>
            <a:r>
              <a:rPr b="1" i="0" lang="en-US" sz="1409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Excel Export: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978369" y="3374640"/>
            <a:ext cx="3780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109"/>
              <a:buFont typeface="Calibri"/>
              <a:buNone/>
            </a:pPr>
            <a:r>
              <a:rPr b="0" i="0" lang="en-US" sz="1409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Bill-wise .xlsx export by Bill ID for offline records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733776" y="4298364"/>
            <a:ext cx="1198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9"/>
              <a:buFont typeface="Calibri"/>
              <a:buNone/>
            </a:pPr>
            <a:r>
              <a:rPr b="1" i="0" lang="en-US" sz="1409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Reporting: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978369" y="4212189"/>
            <a:ext cx="3780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109"/>
              <a:buFont typeface="Calibri"/>
              <a:buNone/>
            </a:pPr>
            <a:r>
              <a:rPr b="0" i="0" lang="en-US" sz="1409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Analytics on billing/sales data (planned — Review 2)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733776" y="5222088"/>
            <a:ext cx="1198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109"/>
              <a:buFont typeface="Calibri"/>
              <a:buNone/>
            </a:pPr>
            <a:r>
              <a:rPr b="1" i="0" lang="en-US" sz="1409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AI Forecast: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978369" y="5049738"/>
            <a:ext cx="3780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109"/>
              <a:buFont typeface="Calibri"/>
              <a:buNone/>
            </a:pPr>
            <a:r>
              <a:rPr b="0" i="0" lang="en-US" sz="1409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Demand prediction using recorded sales history (planned — Review 2)</a:t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265326" y="1070694"/>
            <a:ext cx="5531400" cy="5321100"/>
          </a:xfrm>
          <a:prstGeom prst="roundRect">
            <a:avLst>
              <a:gd fmla="val 1852" name="adj"/>
            </a:avLst>
          </a:prstGeom>
          <a:solidFill>
            <a:srgbClr val="1A2E44"/>
          </a:solidFill>
          <a:ln cap="flat" cmpd="sng" w="9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449685" y="1206866"/>
            <a:ext cx="5162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12"/>
              <a:buFont typeface="Calibri"/>
              <a:buNone/>
            </a:pPr>
            <a:r>
              <a:rPr b="1" i="0" lang="en-US" sz="1412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 b="0" i="0" sz="14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449685" y="1699542"/>
            <a:ext cx="2350800" cy="739200"/>
          </a:xfrm>
          <a:prstGeom prst="roundRect">
            <a:avLst>
              <a:gd fmla="val 10667" name="adj"/>
            </a:avLst>
          </a:prstGeom>
          <a:solidFill>
            <a:srgbClr val="0D1B2A"/>
          </a:solidFill>
          <a:ln cap="flat" cmpd="sng" w="9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6449685" y="1748810"/>
            <a:ext cx="2350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016"/>
              <a:buFont typeface="Calibri"/>
              <a:buNone/>
            </a:pPr>
            <a:r>
              <a:rPr b="1" i="0" lang="en-US" sz="2016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≤ 2s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449685" y="2113390"/>
            <a:ext cx="2350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7"/>
              <a:buFont typeface="Calibri"/>
              <a:buNone/>
            </a:pPr>
            <a:r>
              <a:rPr b="0" i="0" lang="en-US" sz="907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Page Load</a:t>
            </a:r>
            <a:endParaRPr b="0" i="0" sz="9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9031063" y="1699542"/>
            <a:ext cx="2350800" cy="739200"/>
          </a:xfrm>
          <a:prstGeom prst="roundRect">
            <a:avLst>
              <a:gd fmla="val 10667" name="adj"/>
            </a:avLst>
          </a:prstGeom>
          <a:solidFill>
            <a:srgbClr val="0D1B2A"/>
          </a:solidFill>
          <a:ln cap="flat" cmpd="sng" w="9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9031063" y="1748810"/>
            <a:ext cx="2350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016"/>
              <a:buFont typeface="Calibri"/>
              <a:buNone/>
            </a:pPr>
            <a:r>
              <a:rPr b="1" i="0" lang="en-US" sz="2016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≤ 5s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9031063" y="2113390"/>
            <a:ext cx="2350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7"/>
              <a:buFont typeface="Calibri"/>
              <a:buNone/>
            </a:pPr>
            <a:r>
              <a:rPr b="0" i="0" lang="en-US" sz="907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Forecast Gen.</a:t>
            </a:r>
            <a:endParaRPr b="0" i="0" sz="9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449685" y="2635626"/>
            <a:ext cx="2350800" cy="739200"/>
          </a:xfrm>
          <a:prstGeom prst="roundRect">
            <a:avLst>
              <a:gd fmla="val 10667" name="adj"/>
            </a:avLst>
          </a:prstGeom>
          <a:solidFill>
            <a:srgbClr val="0D1B2A"/>
          </a:solidFill>
          <a:ln cap="flat" cmpd="sng" w="9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6449685" y="2684894"/>
            <a:ext cx="2350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016"/>
              <a:buFont typeface="Calibri"/>
              <a:buNone/>
            </a:pPr>
            <a:r>
              <a:rPr b="1" i="0" lang="en-US" sz="2016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99%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449685" y="3049474"/>
            <a:ext cx="2350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7"/>
              <a:buFont typeface="Calibri"/>
              <a:buNone/>
            </a:pPr>
            <a:r>
              <a:rPr b="0" i="0" lang="en-US" sz="907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Uptime</a:t>
            </a:r>
            <a:endParaRPr b="0" i="0" sz="9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9031063" y="2635626"/>
            <a:ext cx="2350800" cy="739200"/>
          </a:xfrm>
          <a:prstGeom prst="roundRect">
            <a:avLst>
              <a:gd fmla="val 10667" name="adj"/>
            </a:avLst>
          </a:prstGeom>
          <a:solidFill>
            <a:srgbClr val="0D1B2A"/>
          </a:solidFill>
          <a:ln cap="flat" cmpd="sng" w="96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9031063" y="2684894"/>
            <a:ext cx="2350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016"/>
              <a:buFont typeface="Calibri"/>
              <a:buNone/>
            </a:pPr>
            <a:r>
              <a:rPr b="1" i="0" lang="en-US" sz="2016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3-Tier</a:t>
            </a:r>
            <a:endParaRPr b="0" i="0" sz="20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9031063" y="3049474"/>
            <a:ext cx="2350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92175" spcFirstLastPara="1" rIns="92175" wrap="square" tIns="4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7"/>
              <a:buFont typeface="Calibri"/>
              <a:buNone/>
            </a:pPr>
            <a:r>
              <a:rPr b="0" i="0" lang="en-US" sz="907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9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449685" y="3769028"/>
            <a:ext cx="5162700" cy="2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2070" lvl="0" marL="345721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411"/>
              <a:buFont typeface="Calibri"/>
              <a:buChar char="•"/>
            </a:pPr>
            <a:r>
              <a:rPr b="0" i="0" lang="en-US" sz="141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Security: bcrypt password hashing; JWT session management</a:t>
            </a:r>
            <a:endParaRPr b="0" i="0" sz="14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070" lvl="0" marL="345721" marR="0" rtl="0" algn="l">
              <a:spcBef>
                <a:spcPts val="605"/>
              </a:spcBef>
              <a:spcAft>
                <a:spcPts val="0"/>
              </a:spcAft>
              <a:buClr>
                <a:srgbClr val="E8F0F4"/>
              </a:buClr>
              <a:buSzPts val="1411"/>
              <a:buFont typeface="Calibri"/>
              <a:buChar char="•"/>
            </a:pPr>
            <a:r>
              <a:rPr b="0" i="0" lang="en-US" sz="141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Usability: responsive UI for desktop; minimal training required</a:t>
            </a:r>
            <a:endParaRPr b="0" i="0" sz="14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070" lvl="0" marL="345721" marR="0" rtl="0" algn="l">
              <a:spcBef>
                <a:spcPts val="605"/>
              </a:spcBef>
              <a:spcAft>
                <a:spcPts val="0"/>
              </a:spcAft>
              <a:buClr>
                <a:srgbClr val="E8F0F4"/>
              </a:buClr>
              <a:buSzPts val="1411"/>
              <a:buFont typeface="Calibri"/>
              <a:buChar char="•"/>
            </a:pPr>
            <a:r>
              <a:rPr b="0" i="0" lang="en-US" sz="141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Reliability: modular FastAPI backend; SQLite canonical path prevents data duplication</a:t>
            </a:r>
            <a:endParaRPr b="0" i="0" sz="14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070" lvl="0" marL="345721" marR="0" rtl="0" algn="l">
              <a:spcBef>
                <a:spcPts val="605"/>
              </a:spcBef>
              <a:spcAft>
                <a:spcPts val="0"/>
              </a:spcAft>
              <a:buClr>
                <a:srgbClr val="E8F0F4"/>
              </a:buClr>
              <a:buSzPts val="1411"/>
              <a:buFont typeface="Calibri"/>
              <a:buChar char="•"/>
            </a:pPr>
            <a:r>
              <a:rPr b="0" i="0" lang="en-US" sz="141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Maintainability: 3-tier separation (UI / API / Data) for clean upgrades</a:t>
            </a:r>
            <a:endParaRPr b="0" i="0" sz="14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5F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System Architecture (Updated)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57200" y="896112"/>
            <a:ext cx="11247120" cy="27432"/>
          </a:xfrm>
          <a:prstGeom prst="rect">
            <a:avLst/>
          </a:prstGeom>
          <a:solidFill>
            <a:srgbClr val="007F76"/>
          </a:solidFill>
          <a:ln cap="flat" cmpd="sng" w="127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57200" y="1097280"/>
            <a:ext cx="7772400" cy="109728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905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640080" y="1143000"/>
            <a:ext cx="7406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Presentation Layer — React + Vite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40080" y="1508760"/>
            <a:ext cx="7406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Inventory UI   •   POS / Billing UI   •   Reports &amp; Dashboard (planned)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3840480" y="2194560"/>
            <a:ext cx="54864" cy="274320"/>
          </a:xfrm>
          <a:prstGeom prst="rect">
            <a:avLst/>
          </a:prstGeom>
          <a:solidFill>
            <a:srgbClr val="007F76"/>
          </a:solidFill>
          <a:ln cap="flat" cmpd="sng" w="127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457200" y="2423160"/>
            <a:ext cx="7772400" cy="109728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90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40080" y="2468880"/>
            <a:ext cx="7406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Application Layer — FastAPI (Python)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40080" y="2834640"/>
            <a:ext cx="7406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REST endpoints   •   Auth &amp; business logic   •   Data validation &amp; routing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840480" y="3520440"/>
            <a:ext cx="54864" cy="27432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457200" y="3749040"/>
            <a:ext cx="7772400" cy="109728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905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40080" y="3794760"/>
            <a:ext cx="7406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Data Layer — SQLite (canonical local path)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40080" y="4160520"/>
            <a:ext cx="7406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Inventory records   •   Bills &amp; transactions   •   Sales history for forecasting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3840480" y="4846320"/>
            <a:ext cx="54864" cy="274320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457200" y="5074920"/>
            <a:ext cx="7772400" cy="109728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640080" y="5120640"/>
            <a:ext cx="7406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AI Layer — Planned (Prophet / sklearn)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40080" y="5486400"/>
            <a:ext cx="7406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Historical sales preprocessing   •   Demand forecasting model   •   MAE / MAPE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412480" y="1097280"/>
            <a:ext cx="3291840" cy="5074920"/>
          </a:xfrm>
          <a:prstGeom prst="roundRect">
            <a:avLst>
              <a:gd fmla="val 2778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8595360" y="118872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Request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595360" y="157276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① User action triggers REST call (JSON)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595360" y="244144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② FastAPI validates &amp; applies business logic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595360" y="331012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③ SQLite read/write at canonical DB path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8595360" y="417880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④ (Planned) Historical data → Prophet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8595360" y="504748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⑤ Forecast + response returned to UI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595360" y="603504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SQLite path standardized to prevent multiple-DB inconsistency issue.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Implemented Features — Review 1 Prototype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57200" y="896112"/>
            <a:ext cx="1124712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57200" y="1051550"/>
            <a:ext cx="3227700" cy="2623200"/>
          </a:xfrm>
          <a:prstGeom prst="roundRect">
            <a:avLst>
              <a:gd fmla="val 3704" name="adj"/>
            </a:avLst>
          </a:prstGeom>
          <a:solidFill>
            <a:srgbClr val="1A2E44"/>
          </a:solidFill>
          <a:ln cap="flat" cmpd="sng" w="101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150" lIns="97150" spcFirstLastPara="1" rIns="97150" wrap="square" tIns="9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610899" y="1168136"/>
            <a:ext cx="2920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550" lIns="97150" spcFirstLastPara="1" rIns="97150" wrap="square" tIns="4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275"/>
              <a:buFont typeface="Calibri"/>
              <a:buNone/>
            </a:pPr>
            <a:r>
              <a:rPr b="1" i="0" lang="en-US" sz="1275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Inventory CRUD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610899" y="1537326"/>
            <a:ext cx="29205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4332" lvl="0" marL="364333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Add / edit / delete products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4332" lvl="0" marL="364333" marR="0" rtl="0" algn="l">
              <a:spcBef>
                <a:spcPts val="638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Real-time stock quantity tracking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4332" lvl="0" marL="364333" marR="0" rtl="0" algn="l">
              <a:spcBef>
                <a:spcPts val="638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Low-stock threshold alerts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3889801" y="1051550"/>
            <a:ext cx="3227700" cy="2623200"/>
          </a:xfrm>
          <a:prstGeom prst="roundRect">
            <a:avLst>
              <a:gd fmla="val 3704" name="adj"/>
            </a:avLst>
          </a:prstGeom>
          <a:solidFill>
            <a:srgbClr val="1A2E44"/>
          </a:solidFill>
          <a:ln cap="flat" cmpd="sng" w="101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150" lIns="97150" spcFirstLastPara="1" rIns="97150" wrap="square" tIns="9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4043499" y="1168136"/>
            <a:ext cx="2920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550" lIns="97150" spcFirstLastPara="1" rIns="97150" wrap="square" tIns="4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75"/>
              <a:buFont typeface="Calibri"/>
              <a:buNone/>
            </a:pPr>
            <a:r>
              <a:rPr b="1" i="0" lang="en-US" sz="1275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POS Billing Module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043499" y="1537326"/>
            <a:ext cx="29205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4332" lvl="0" marL="364333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Basic billing / sale recording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4332" lvl="0" marL="364333" marR="0" rtl="0" algn="l">
              <a:spcBef>
                <a:spcPts val="638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Auto-deducts inventory on sale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4332" lvl="0" marL="364333" marR="0" rtl="0" algn="l">
              <a:spcBef>
                <a:spcPts val="638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Recent bills listing view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7322402" y="1051550"/>
            <a:ext cx="3227700" cy="2623200"/>
          </a:xfrm>
          <a:prstGeom prst="roundRect">
            <a:avLst>
              <a:gd fmla="val 3704" name="adj"/>
            </a:avLst>
          </a:prstGeom>
          <a:solidFill>
            <a:srgbClr val="1A2E44"/>
          </a:solidFill>
          <a:ln cap="flat" cmpd="sng" w="101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150" lIns="97150" spcFirstLastPara="1" rIns="97150" wrap="square" tIns="9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7476100" y="1168136"/>
            <a:ext cx="2920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550" lIns="97150" spcFirstLastPara="1" rIns="97150" wrap="square" tIns="4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795"/>
              </a:buClr>
              <a:buSzPts val="1275"/>
              <a:buFont typeface="Calibri"/>
              <a:buNone/>
            </a:pPr>
            <a:r>
              <a:rPr b="1" i="0" lang="en-US" sz="1275" u="none" cap="none" strike="noStrike">
                <a:solidFill>
                  <a:srgbClr val="3AB795"/>
                </a:solidFill>
                <a:latin typeface="Calibri"/>
                <a:ea typeface="Calibri"/>
                <a:cs typeface="Calibri"/>
                <a:sym typeface="Calibri"/>
              </a:rPr>
              <a:t>Excel Export (.xlsx)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7476100" y="1537326"/>
            <a:ext cx="29205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4332" lvl="0" marL="364333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Bill-wise export by Bill ID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4332" lvl="0" marL="364333" marR="0" rtl="0" algn="l">
              <a:spcBef>
                <a:spcPts val="638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Structured .xlsx download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4332" lvl="0" marL="364333" marR="0" rtl="0" algn="l">
              <a:spcBef>
                <a:spcPts val="638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Offline-ready records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57200" y="3869053"/>
            <a:ext cx="3227700" cy="2623200"/>
          </a:xfrm>
          <a:prstGeom prst="roundRect">
            <a:avLst>
              <a:gd fmla="val 3704" name="adj"/>
            </a:avLst>
          </a:prstGeom>
          <a:solidFill>
            <a:srgbClr val="1A2E44"/>
          </a:solidFill>
          <a:ln cap="flat" cmpd="sng" w="101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150" lIns="97150" spcFirstLastPara="1" rIns="97150" wrap="square" tIns="9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610899" y="3985639"/>
            <a:ext cx="2920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550" lIns="97150" spcFirstLastPara="1" rIns="97150" wrap="square" tIns="4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275"/>
              <a:buFont typeface="Calibri"/>
              <a:buNone/>
            </a:pPr>
            <a:r>
              <a:rPr b="1" i="0" lang="en-US" sz="1275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SQLite Backend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10899" y="4354829"/>
            <a:ext cx="29205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4332" lvl="0" marL="364333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Canonical local DB path set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4332" lvl="0" marL="364333" marR="0" rtl="0" algn="l">
              <a:spcBef>
                <a:spcPts val="638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Eliminates multi-DB inconsistency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4332" lvl="0" marL="364333" marR="0" rtl="0" algn="l">
              <a:spcBef>
                <a:spcPts val="638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FastAPI REST integration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3889801" y="3869053"/>
            <a:ext cx="3227700" cy="2623200"/>
          </a:xfrm>
          <a:prstGeom prst="roundRect">
            <a:avLst>
              <a:gd fmla="val 3704" name="adj"/>
            </a:avLst>
          </a:prstGeom>
          <a:solidFill>
            <a:srgbClr val="1A2E44"/>
          </a:solidFill>
          <a:ln cap="flat" cmpd="sng" w="101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150" lIns="97150" spcFirstLastPara="1" rIns="97150" wrap="square" tIns="9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4043499" y="3985639"/>
            <a:ext cx="2920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550" lIns="97150" spcFirstLastPara="1" rIns="97150" wrap="square" tIns="4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275"/>
              <a:buFont typeface="Calibri"/>
              <a:buNone/>
            </a:pPr>
            <a:r>
              <a:rPr b="1" i="0" lang="en-US" sz="1275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FastAPI + React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4043499" y="4354829"/>
            <a:ext cx="29205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4332" lvl="0" marL="364333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React + Vite frontend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4332" lvl="0" marL="364333" marR="0" rtl="0" algn="l">
              <a:spcBef>
                <a:spcPts val="638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FastAPI REST backend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4332" lvl="0" marL="364333" marR="0" rtl="0" algn="l">
              <a:spcBef>
                <a:spcPts val="638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JSON data flow end-to-end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7322402" y="3869053"/>
            <a:ext cx="3227700" cy="2623200"/>
          </a:xfrm>
          <a:prstGeom prst="roundRect">
            <a:avLst>
              <a:gd fmla="val 3704" name="adj"/>
            </a:avLst>
          </a:prstGeom>
          <a:solidFill>
            <a:srgbClr val="1A2E44"/>
          </a:solidFill>
          <a:ln cap="flat" cmpd="sng" w="101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150" lIns="97150" spcFirstLastPara="1" rIns="97150" wrap="square" tIns="9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7476100" y="3985639"/>
            <a:ext cx="2920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550" lIns="97150" spcFirstLastPara="1" rIns="97150" wrap="square" tIns="4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1275"/>
              <a:buFont typeface="Calibri"/>
              <a:buNone/>
            </a:pPr>
            <a:r>
              <a:rPr b="1" i="0" lang="en-US" sz="1275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Planned Next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7476100" y="4354829"/>
            <a:ext cx="29205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4332" lvl="0" marL="364333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Invoice print formatting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4332" lvl="0" marL="364333" marR="0" rtl="0" algn="l">
              <a:spcBef>
                <a:spcPts val="638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Sales analytics &amp; reporting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4332" lvl="0" marL="364333" marR="0" rtl="0" algn="l">
              <a:spcBef>
                <a:spcPts val="638"/>
              </a:spcBef>
              <a:spcAft>
                <a:spcPts val="0"/>
              </a:spcAft>
              <a:buClr>
                <a:srgbClr val="E8F0F4"/>
              </a:buClr>
              <a:buSzPts val="1381"/>
              <a:buFont typeface="Calibri"/>
              <a:buChar char="•"/>
            </a:pPr>
            <a:r>
              <a:rPr b="0" i="0" lang="en-US" sz="1381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AI forecasting integration</a:t>
            </a:r>
            <a:endParaRPr b="0" i="0" sz="13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5F8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Current Progress, Milestones &amp; Risks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57200" y="896112"/>
            <a:ext cx="11247120" cy="27432"/>
          </a:xfrm>
          <a:prstGeom prst="rect">
            <a:avLst/>
          </a:prstGeom>
          <a:solidFill>
            <a:srgbClr val="007F76"/>
          </a:solidFill>
          <a:ln cap="flat" cmpd="sng" w="127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11726266" y="6619875"/>
            <a:ext cx="465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48640" y="1389888"/>
            <a:ext cx="11064240" cy="45720"/>
          </a:xfrm>
          <a:prstGeom prst="rect">
            <a:avLst/>
          </a:prstGeom>
          <a:solidFill>
            <a:srgbClr val="C0D0DC"/>
          </a:solidFill>
          <a:ln cap="flat" cmpd="sng" w="12700">
            <a:solidFill>
              <a:srgbClr val="C0D0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347472" y="1207008"/>
            <a:ext cx="402336" cy="402336"/>
          </a:xfrm>
          <a:prstGeom prst="ellipse">
            <a:avLst/>
          </a:prstGeom>
          <a:solidFill>
            <a:srgbClr val="007F76"/>
          </a:solidFill>
          <a:ln cap="flat" cmpd="sng" w="254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347472" y="12070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-274320" y="16916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Phase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035552" y="1207008"/>
            <a:ext cx="402336" cy="402336"/>
          </a:xfrm>
          <a:prstGeom prst="ellipse">
            <a:avLst/>
          </a:prstGeom>
          <a:solidFill>
            <a:srgbClr val="007F76"/>
          </a:solidFill>
          <a:ln cap="flat" cmpd="sng" w="254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4035552" y="12070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413760" y="16916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Review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Prototype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7723632" y="1207008"/>
            <a:ext cx="402336" cy="402336"/>
          </a:xfrm>
          <a:prstGeom prst="ellipse">
            <a:avLst/>
          </a:prstGeom>
          <a:solidFill>
            <a:srgbClr val="D0DDE8"/>
          </a:solidFill>
          <a:ln cap="flat" cmpd="sng" w="12700">
            <a:solidFill>
              <a:srgbClr val="A0B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7723632" y="12070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7101840" y="1677915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Review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1411712" y="1207008"/>
            <a:ext cx="402336" cy="402336"/>
          </a:xfrm>
          <a:prstGeom prst="ellipse">
            <a:avLst/>
          </a:prstGeom>
          <a:solidFill>
            <a:srgbClr val="D0DDE8"/>
          </a:solidFill>
          <a:ln cap="flat" cmpd="sng" w="12700">
            <a:solidFill>
              <a:srgbClr val="A0B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11411712" y="12070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10789920" y="16916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487565" y="203911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Overall Progress: ~35%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48640" y="2331720"/>
            <a:ext cx="11064240" cy="320040"/>
          </a:xfrm>
          <a:prstGeom prst="roundRect">
            <a:avLst>
              <a:gd fmla="val 22857" name="adj"/>
            </a:avLst>
          </a:prstGeom>
          <a:solidFill>
            <a:srgbClr val="D0DDE8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548640" y="2331720"/>
            <a:ext cx="3872484" cy="320040"/>
          </a:xfrm>
          <a:prstGeom prst="roundRect">
            <a:avLst>
              <a:gd fmla="val 22857" name="adj"/>
            </a:avLst>
          </a:prstGeom>
          <a:solidFill>
            <a:srgbClr val="007F76"/>
          </a:solidFill>
          <a:ln cap="flat" cmpd="sng" w="12700">
            <a:solidFill>
              <a:srgbClr val="007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548640" y="2331720"/>
            <a:ext cx="38724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-195935" y="2766025"/>
            <a:ext cx="182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Stack selected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 React+FastAPI+SQLite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3322320" y="2743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Inventory CRUD, POS,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F76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007F76"/>
                </a:solidFill>
                <a:latin typeface="Calibri"/>
                <a:ea typeface="Calibri"/>
                <a:cs typeface="Calibri"/>
                <a:sym typeface="Calibri"/>
              </a:rPr>
              <a:t> Excel export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7010400" y="2743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Reports, Analytics,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 AI Forecast start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10698480" y="27432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Full AI integration,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 polished 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48650" y="3429000"/>
            <a:ext cx="37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Key Risks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48650" y="3810000"/>
            <a:ext cx="11270700" cy="78120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548650" y="3810000"/>
            <a:ext cx="111900" cy="781200"/>
          </a:xfrm>
          <a:prstGeom prst="roundRect">
            <a:avLst>
              <a:gd fmla="val 16667" name="adj"/>
            </a:avLst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781517" y="3867150"/>
            <a:ext cx="512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Risk: Insufficient sales history for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781517" y="4210050"/>
            <a:ext cx="1052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Mitigation: Use synthetic + early real data for 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548650" y="4714875"/>
            <a:ext cx="11270700" cy="78120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548650" y="4714875"/>
            <a:ext cx="111900" cy="781200"/>
          </a:xfrm>
          <a:prstGeom prst="roundRect">
            <a:avLst>
              <a:gd fmla="val 16667" name="adj"/>
            </a:avLst>
          </a:prstGeom>
          <a:solidFill>
            <a:srgbClr val="3AB795"/>
          </a:solidFill>
          <a:ln cap="flat" cmpd="sng" w="12700">
            <a:solidFill>
              <a:srgbClr val="3AB7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81517" y="4772025"/>
            <a:ext cx="512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Risk: SQLite concurrency limits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81517" y="5114925"/>
            <a:ext cx="1052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Mitigation: Acceptable for single-user prototype; migrate later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548650" y="5619750"/>
            <a:ext cx="11270700" cy="78120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548650" y="5619750"/>
            <a:ext cx="111900" cy="781200"/>
          </a:xfrm>
          <a:prstGeom prst="roundRect">
            <a:avLst>
              <a:gd fmla="val 16667" name="adj"/>
            </a:avLst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781517" y="5676900"/>
            <a:ext cx="512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Risk: Scope creep before Review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781517" y="6019800"/>
            <a:ext cx="1052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Mitigation: Strict feature freeze; reporting + AI layer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Next Phase Roadmap &amp; Conclusion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57200" y="896112"/>
            <a:ext cx="11247120" cy="27432"/>
          </a:xfrm>
          <a:prstGeom prst="rect">
            <a:avLst/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457200" y="1097280"/>
            <a:ext cx="5486400" cy="3474720"/>
          </a:xfrm>
          <a:prstGeom prst="roundRect">
            <a:avLst>
              <a:gd fmla="val 2632" name="adj"/>
            </a:avLst>
          </a:prstGeom>
          <a:solidFill>
            <a:srgbClr val="1A2E44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457200" y="1097280"/>
            <a:ext cx="5486400" cy="411480"/>
          </a:xfrm>
          <a:prstGeom prst="roundRect">
            <a:avLst>
              <a:gd fmla="val 17778" name="adj"/>
            </a:avLst>
          </a:prstGeom>
          <a:solidFill>
            <a:srgbClr val="00B4A6"/>
          </a:solidFill>
          <a:ln cap="flat" cmpd="sng" w="12700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457200" y="109728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Now → Review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640080" y="1691625"/>
            <a:ext cx="51207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Advanced invoice / print formatting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Reporting &amp; analytics on billing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Sales trend visualizations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AI forecasting integration start (Prophet)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6309360" y="1097280"/>
            <a:ext cx="5486400" cy="3474720"/>
          </a:xfrm>
          <a:prstGeom prst="roundRect">
            <a:avLst>
              <a:gd fmla="val 2632" name="adj"/>
            </a:avLst>
          </a:prstGeom>
          <a:solidFill>
            <a:srgbClr val="1A2E44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6309360" y="1097280"/>
            <a:ext cx="5486400" cy="411480"/>
          </a:xfrm>
          <a:prstGeom prst="roundRect">
            <a:avLst>
              <a:gd fmla="val 17778" name="adj"/>
            </a:avLst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6309360" y="109728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Review 2 → 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6492202" y="1691600"/>
            <a:ext cx="51207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Full AI demand forecasting (MAE/MAPE eval)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Dashboard with forecast charts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UI polish &amp; UX improvements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End-to-end testing &amp; documentation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457200" y="4709160"/>
            <a:ext cx="11247120" cy="1828800"/>
          </a:xfrm>
          <a:prstGeom prst="roundRect">
            <a:avLst>
              <a:gd fmla="val 5000" name="adj"/>
            </a:avLst>
          </a:prstGeom>
          <a:solidFill>
            <a:srgbClr val="1A2E44"/>
          </a:solidFill>
          <a:ln cap="flat" cmpd="sng" w="9525">
            <a:solidFill>
              <a:srgbClr val="00B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640080" y="4773168"/>
            <a:ext cx="10881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6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00B4A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40080" y="512064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Review 1 delivered: Inventory CRUD + POS + auto stock deduction + Excel export — working prototype on React + FastAPI + SQLite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Review 2 target (~50%): reporting/analytics + AI forecasting initiation using real billing history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8F0F4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rPr>
              <a:t>NexusERP remains on track to deliver an affordable, AI-integrated ERP purpose-built for small businesses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BF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BFCC"/>
                </a:solidFill>
                <a:latin typeface="Calibri"/>
                <a:ea typeface="Calibri"/>
                <a:cs typeface="Calibri"/>
                <a:sym typeface="Calibri"/>
              </a:rPr>
              <a:t>Thank You   •   Questions &amp; Feedback Welcome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