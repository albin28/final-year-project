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43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A33D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1554540"/>
            <a:ext cx="9875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Combining Demand Classification and Forecasting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Models in Spare Parts Inventory Management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 the Energy Sector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3977640"/>
            <a:ext cx="8961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Seminar Presentation based on Resea</a:t>
            </a:r>
            <a:r>
              <a:rPr i="1"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rch Paper By</a:t>
            </a:r>
            <a:r>
              <a:rPr b="0" i="1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i="1"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L.F Da Silva, E.S Christp, K.A Costa, H.P Tavares </a:t>
            </a:r>
            <a:r>
              <a:rPr b="0" i="1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(2026). The International Journal of Advanced Manufacturing Technology, 144, 355–366.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640080" y="5029200"/>
            <a:ext cx="3200400" cy="0"/>
          </a:xfrm>
          <a:prstGeom prst="straightConnector1">
            <a:avLst/>
          </a:prstGeom>
          <a:noFill/>
          <a:ln cap="flat" cmpd="sng" w="254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640075" y="5106775"/>
            <a:ext cx="73152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Albin Joseph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Department: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Science and Engineering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Institution: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Amal Jyothi College of Engineering (Autonomous)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August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3751605" y="5029200"/>
            <a:ext cx="3200400" cy="0"/>
          </a:xfrm>
          <a:prstGeom prst="straightConnector1">
            <a:avLst/>
          </a:prstGeom>
          <a:noFill/>
          <a:ln cap="flat" cmpd="sng" w="254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8640" y="365760"/>
            <a:ext cx="11091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Contents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31520" y="1490472"/>
            <a:ext cx="384048" cy="384048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1" name="Google Shape;31;p4"/>
          <p:cNvSpPr/>
          <p:nvPr/>
        </p:nvSpPr>
        <p:spPr>
          <a:xfrm>
            <a:off x="731520" y="14904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280160" y="1463040"/>
            <a:ext cx="4572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31520" y="2468428"/>
            <a:ext cx="384000" cy="384000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" name="Google Shape;34;p4"/>
          <p:cNvSpPr/>
          <p:nvPr/>
        </p:nvSpPr>
        <p:spPr>
          <a:xfrm>
            <a:off x="731520" y="246842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280160" y="2440996"/>
            <a:ext cx="457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31520" y="3473808"/>
            <a:ext cx="384000" cy="384000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7" name="Google Shape;37;p4"/>
          <p:cNvSpPr/>
          <p:nvPr/>
        </p:nvSpPr>
        <p:spPr>
          <a:xfrm>
            <a:off x="731520" y="347380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280160" y="3446376"/>
            <a:ext cx="457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31520" y="4506601"/>
            <a:ext cx="384000" cy="384000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0" name="Google Shape;40;p4"/>
          <p:cNvSpPr/>
          <p:nvPr/>
        </p:nvSpPr>
        <p:spPr>
          <a:xfrm>
            <a:off x="731520" y="4506601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280160" y="4479169"/>
            <a:ext cx="457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Methodology / Work Carried 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217920" y="1490472"/>
            <a:ext cx="384048" cy="384048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3" name="Google Shape;43;p4"/>
          <p:cNvSpPr/>
          <p:nvPr/>
        </p:nvSpPr>
        <p:spPr>
          <a:xfrm>
            <a:off x="6217920" y="14904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766560" y="1463040"/>
            <a:ext cx="4572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217920" y="2468428"/>
            <a:ext cx="384000" cy="384000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" name="Google Shape;46;p4"/>
          <p:cNvSpPr/>
          <p:nvPr/>
        </p:nvSpPr>
        <p:spPr>
          <a:xfrm>
            <a:off x="6217920" y="246842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766560" y="2440996"/>
            <a:ext cx="457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Conclusion and Future 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217920" y="3473808"/>
            <a:ext cx="384000" cy="384000"/>
          </a:xfrm>
          <a:prstGeom prst="ellipse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9" name="Google Shape;49;p4"/>
          <p:cNvSpPr/>
          <p:nvPr/>
        </p:nvSpPr>
        <p:spPr>
          <a:xfrm>
            <a:off x="6217920" y="347380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766560" y="3446376"/>
            <a:ext cx="4572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1211578"/>
            <a:ext cx="676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Why inventory forecasting matters 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1691640"/>
            <a:ext cx="68580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Inventory holding costs represent 20–40% of item value — accurate demand forecasts directly reduce fixed capital costs.</a:t>
            </a:r>
            <a:endParaRPr b="0" i="0" sz="1600" u="none" cap="none" strike="noStrike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Spare parts in energy companies show irregular, sparse, and highly variable consumption — traditional models often fail.</a:t>
            </a:r>
            <a:endParaRPr b="0" i="0" sz="1600" u="none" cap="none" strike="noStrike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The paper studies a large energy company in Minas Gerais, Brazil, with 2,244 historical spare-part consumption series (Jan/2020–Dec/2024).</a:t>
            </a:r>
            <a:endParaRPr b="0" i="0" sz="1600" u="none" cap="none" strike="noStrike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Goal: identify whether classical statistical models or Machine Learning models forecast better — and whether the best model depends on demand type.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863825" y="1333175"/>
            <a:ext cx="3909000" cy="5113200"/>
          </a:xfrm>
          <a:prstGeom prst="roundRect">
            <a:avLst>
              <a:gd fmla="val 2927" name="adj"/>
            </a:avLst>
          </a:prstGeom>
          <a:solidFill>
            <a:srgbClr val="1B2A41"/>
          </a:solidFill>
          <a:ln>
            <a:noFill/>
          </a:ln>
          <a:effectLst>
            <a:outerShdw blurRad="101600" rotWithShape="0" algn="bl" dir="54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046720" y="1508770"/>
            <a:ext cx="3383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20–40%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046720" y="2263128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item value tied up as inventory holding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5"/>
          <p:cNvCxnSpPr/>
          <p:nvPr/>
        </p:nvCxnSpPr>
        <p:spPr>
          <a:xfrm>
            <a:off x="8229663" y="3108950"/>
            <a:ext cx="3017400" cy="0"/>
          </a:xfrm>
          <a:prstGeom prst="straightConnector1">
            <a:avLst/>
          </a:prstGeom>
          <a:noFill/>
          <a:ln cap="flat" cmpd="sng" w="12700">
            <a:solidFill>
              <a:srgbClr val="5C72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5"/>
          <p:cNvSpPr/>
          <p:nvPr/>
        </p:nvSpPr>
        <p:spPr>
          <a:xfrm>
            <a:off x="8046783" y="3246105"/>
            <a:ext cx="338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2,244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046833" y="3966268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historical spare-part series analyzed (60 months)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8229763" y="4779040"/>
            <a:ext cx="3017400" cy="0"/>
          </a:xfrm>
          <a:prstGeom prst="straightConnector1">
            <a:avLst/>
          </a:prstGeom>
          <a:noFill/>
          <a:ln cap="flat" cmpd="sng" w="12700">
            <a:solidFill>
              <a:srgbClr val="5C72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5"/>
          <p:cNvSpPr/>
          <p:nvPr/>
        </p:nvSpPr>
        <p:spPr>
          <a:xfrm>
            <a:off x="8046883" y="4951620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13,464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046933" y="5580605"/>
            <a:ext cx="338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otal forecasting iterations (6 models × 2,244 items)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550190" y="151085"/>
            <a:ext cx="11091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Literature Survey (1/2) — Base Paper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50" y="1045276"/>
            <a:ext cx="11064300" cy="4339500"/>
          </a:xfrm>
          <a:prstGeom prst="roundRect">
            <a:avLst>
              <a:gd fmla="val 3226" name="adj"/>
            </a:avLst>
          </a:prstGeom>
          <a:solidFill>
            <a:srgbClr val="1B2A41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22960" y="116601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PRIMARY / BASE PAPER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871400" y="1800724"/>
            <a:ext cx="104187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Combining demand classification and forecasting models in spare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parts inventory management for the energy sector. 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L.F Da Silva et al. (2026). The International Journal of Advanced Manufacturing Technology, 144, 355–366.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22950" y="2508200"/>
            <a:ext cx="10515600" cy="25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Contribution: </a:t>
            </a:r>
            <a:endParaRPr b="1" i="0" u="none" cap="none" strike="noStrike">
              <a:solidFill>
                <a:srgbClr val="E8A3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i="0" lang="en-US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Analyzed a full population of 2,244 spare-part consumption series (60 months, Jan/2020–Dec/2024) from a large Brazilian energy utility, executing 13,464 forecasting iterations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Combines demand-behavior classification (ADI, CV²) with ABC value classification, then compares six forecasting models — Random Forest, XGBoost, Exp. Smoothing, Holt, Holt-Winters, SARIMA — across the full population of 2,244 spare-part series from an energy company.</a:t>
            </a:r>
            <a:b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Limitation:</a:t>
            </a:r>
            <a:r>
              <a:rPr b="1" lang="en-US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Stops at forecast model selection,  does not compute downstream inventory parameters (safety stock, reorder points)</a:t>
            </a:r>
            <a:b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Relevance: </a:t>
            </a: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This is the methodological foundation for both this seminar and my final-year project, NexusERP.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63853" y="5554405"/>
            <a:ext cx="11064300" cy="1005900"/>
          </a:xfrm>
          <a:prstGeom prst="rect">
            <a:avLst/>
          </a:prstGeom>
          <a:solidFill>
            <a:srgbClr val="FDF1DC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1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This seminar is built primarily on the paper above. The studies on the next slide are supporting literature only — included to situate the base paper's approach within the broader field of AI-driven demand forecasting.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534928" y="173685"/>
            <a:ext cx="11091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Literature Survey (2/2) — Supporting Studies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48575" y="1016326"/>
            <a:ext cx="11064300" cy="16158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777250" y="1826749"/>
            <a:ext cx="34290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Goulart et al. (2026) — Future Business Journal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36050" y="2153375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Construction supplies distributor, Brazil (SME)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343400" y="1231111"/>
            <a:ext cx="7086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950"/>
              <a:buFont typeface="Calibri"/>
              <a:buNone/>
            </a:pPr>
            <a:r>
              <a:rPr b="1" i="0" lang="en-US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Contribution:</a:t>
            </a: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Deployed cloud AutoML (AWS Forecast/SageMaker) for demand forecasting at an SME.</a:t>
            </a:r>
            <a:r>
              <a:rPr b="0" i="0" lang="en-US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Limitation:</a:t>
            </a: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Contribution is architectural, not algorithmic; no baseline comparison; single case study. </a:t>
            </a: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Relevance: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Shows SME-scale forecasting is feasible without a data-science team — directly relevant to </a:t>
            </a:r>
            <a:r>
              <a:rPr lang="en-US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Nexus ERP's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target users.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48650" y="2791599"/>
            <a:ext cx="11064300" cy="16158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836050" y="3635086"/>
            <a:ext cx="34290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Basavaraju &amp; Fatahi Valilai (2025) — Discover Applied Sciences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836050" y="40828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FMCG multinational, EMEA region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343400" y="2980266"/>
            <a:ext cx="7086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95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Contribution: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Demand planning framework combining statistical forecasts with customer-collaborative inputs; root-cause analysis of forecast deviation (</a:t>
            </a:r>
            <a:r>
              <a:rPr lang="en-US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MAPE90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r>
              <a:rPr b="0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Limitation:</a:t>
            </a: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Enterprise-scale, tool-heavy (JDA/ERP); not focused on model accuracy. </a:t>
            </a: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Relevance: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Reinforces that forecasting must feed a planning process, not stop at the number — informs </a:t>
            </a:r>
            <a:r>
              <a:rPr lang="en-US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Nexus ERP's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reorder-recommendation feature.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48650" y="4562849"/>
            <a:ext cx="11064300" cy="16158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777250" y="5472504"/>
            <a:ext cx="3429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Douaioui et al. (2024) — Applied System Innovation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777250" y="5807828"/>
            <a:ext cx="3429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Critical review, 119 papers (2015–2024)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343400" y="4733409"/>
            <a:ext cx="7086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95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Contribution:</a:t>
            </a: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Bibliometric review of ML/DL demand-forecasting methods; benchmarks LSTM, Random Forest, XGBoost, SARIMA-hybrids across the field. </a:t>
            </a:r>
            <a:r>
              <a:rPr b="1" i="0" lang="en-US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Limitation:</a:t>
            </a: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Descriptive review; no new model or case implementation. </a:t>
            </a: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Relevance: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Confirms Random Forest and XGBoost — the base paper's ML models — remain field-standard choices.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48640" y="6208775"/>
            <a:ext cx="11064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1" lang="en-US" sz="12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Read together: an SME implementation case, an enterprise planning-process case, and a field-wide review — each supports a different facet of the base paper's approach, from small-scale feasibility to model choice to process integration.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777250" y="1231100"/>
            <a:ext cx="342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Predictive models for inventory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836050" y="3081775"/>
            <a:ext cx="36144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Developing a demand planning strategy for                     joint forecasting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 txBox="1"/>
          <p:nvPr/>
        </p:nvSpPr>
        <p:spPr>
          <a:xfrm>
            <a:off x="813400" y="4677038"/>
            <a:ext cx="3474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Machine Learning and Deep Learning Models for Demand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Forecasting in Supply Chain Management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48640" y="1417320"/>
            <a:ext cx="5394960" cy="1874520"/>
          </a:xfrm>
          <a:prstGeom prst="roundRect">
            <a:avLst>
              <a:gd fmla="val 4878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822960" y="1673352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822960" y="1673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508760" y="1655064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 demand behavior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22960" y="228600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DF3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Segment 2,244 items into Erratic, Irregular, Intermittent, and Regular categories using ADI and CV² statistics.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263640" y="1417320"/>
            <a:ext cx="5394960" cy="1874520"/>
          </a:xfrm>
          <a:prstGeom prst="roundRect">
            <a:avLst>
              <a:gd fmla="val 4878" name="adj"/>
            </a:avLst>
          </a:prstGeom>
          <a:solidFill>
            <a:srgbClr val="5C72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6537960" y="1673352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6537960" y="1673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223760" y="1655064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 by financial value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537960" y="228600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DF3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Apply ABC (Pareto) classification to identify the small subset of items carrying most of the consumption value.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48640" y="3566160"/>
            <a:ext cx="5394960" cy="1874520"/>
          </a:xfrm>
          <a:prstGeom prst="roundRect">
            <a:avLst>
              <a:gd fmla="val 4878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822960" y="3822192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822960" y="38221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508760" y="3803904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 six forecasting 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822960" y="443484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DF3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Evaluate Random Forest, XGBoost, Exponential Smoothing, Holt, Holt-Winters, and SARIMA on the full item population.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263640" y="3566160"/>
            <a:ext cx="5394960" cy="1874520"/>
          </a:xfrm>
          <a:prstGeom prst="roundRect">
            <a:avLst>
              <a:gd fmla="val 4878" name="adj"/>
            </a:avLst>
          </a:prstGeom>
          <a:solidFill>
            <a:srgbClr val="5C72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6537960" y="3822192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6537960" y="38221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7223760" y="3803904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the best model per demand type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537960" y="4434840"/>
            <a:ext cx="4892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DF3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Use the CRITIC multicriteria method on MAE, MAPE, sMAPE, and RMSE to recommend a specific model for each demand category.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FDF1DC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0" i="1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These findings from the base paper directly inform my final year project — NexusERP, a lightweight inventory system with AI demand forecasting for small businesses.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Methodology (1/2) — Research Pipeline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48640" y="1737360"/>
            <a:ext cx="1691640" cy="1005840"/>
          </a:xfrm>
          <a:prstGeom prst="roundRect">
            <a:avLst>
              <a:gd fmla="val 9091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48640" y="173736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2240280" y="201168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2496312" y="1737360"/>
            <a:ext cx="1691640" cy="1005840"/>
          </a:xfrm>
          <a:prstGeom prst="roundRect">
            <a:avLst>
              <a:gd fmla="val 9091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2496312" y="173736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187952" y="201168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443984" y="1737360"/>
            <a:ext cx="1691640" cy="1005840"/>
          </a:xfrm>
          <a:prstGeom prst="roundRect">
            <a:avLst>
              <a:gd fmla="val 9091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4443984" y="173736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135624" y="201168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391656" y="1737360"/>
            <a:ext cx="1691640" cy="1005840"/>
          </a:xfrm>
          <a:prstGeom prst="roundRect">
            <a:avLst>
              <a:gd fmla="val 9091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6391656" y="173736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8083296" y="201168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339328" y="1737360"/>
            <a:ext cx="1691640" cy="1005840"/>
          </a:xfrm>
          <a:prstGeom prst="roundRect">
            <a:avLst>
              <a:gd fmla="val 9091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8339328" y="173736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Consolidation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0030968" y="201168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0287000" y="1737360"/>
            <a:ext cx="1691640" cy="1005840"/>
          </a:xfrm>
          <a:prstGeom prst="roundRect">
            <a:avLst>
              <a:gd fmla="val 9091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10287000" y="173736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 &amp;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Model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48640" y="29718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50"/>
              <a:buFont typeface="Calibri"/>
              <a:buNone/>
            </a:pPr>
            <a:r>
              <a:rPr b="0" i="1" lang="en-US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Eight-stage process defined in the base paper, from literature review to final conclusions (Fig. 1).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50" y="3429000"/>
            <a:ext cx="5394900" cy="29319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777265" y="3429125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en-US" sz="1400" u="sng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Data Source &amp; Scope</a:t>
            </a:r>
            <a:endParaRPr b="0" i="0" sz="1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77250" y="4169025"/>
            <a:ext cx="49377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Company: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Large energy company, SE Brazil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SAP R/3 ERP materials management module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Scope: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2,244 stockable SKUs, 60 months of consumption (Jan/2020–Dec/2024)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Novelty: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Full population used, not a sample — avoids selection bias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263650" y="3429125"/>
            <a:ext cx="5394900" cy="29319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492265" y="3429125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en-US" sz="1400" u="sng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Demand Classification (Syntetos–Boylan)</a:t>
            </a:r>
            <a:endParaRPr b="0" i="0" sz="1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492250" y="4046226"/>
            <a:ext cx="49377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ADI =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average inter-demand interval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CV² =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squared coefficient of variation of demand size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Cutoffs: ADI = 1.32, CV² = 0.49</a:t>
            </a:r>
            <a:b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4 groups: Erratic • Intermittent • Irregular • Regular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Methodology (2/2) — Models &amp; Validation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48615" y="1417320"/>
            <a:ext cx="5394900" cy="2286000"/>
          </a:xfrm>
          <a:prstGeom prst="roundRect">
            <a:avLst>
              <a:gd fmla="val 4000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777250" y="1485830"/>
            <a:ext cx="493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Six Forecasting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777250" y="1830300"/>
            <a:ext cx="49377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Machine Learning: 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Forest, XGBoost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Classical / Exp. Smoothing: 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Exp. Smoothing, Holt, Holt-Winters, SARIMA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263640" y="1417320"/>
            <a:ext cx="5394960" cy="2286000"/>
          </a:xfrm>
          <a:prstGeom prst="roundRect">
            <a:avLst>
              <a:gd fmla="val 4000" name="adj"/>
            </a:avLst>
          </a:prstGeom>
          <a:solidFill>
            <a:srgbClr val="5C72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6492240" y="1417325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1D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DF1DC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6492250" y="1890150"/>
            <a:ext cx="49377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2020 – Dec 2023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Jan 2024 – Dec 2024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 horizon: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steps ahead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Spyder (Python 3.11), 13,464 iterations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48650" y="3931926"/>
            <a:ext cx="11109900" cy="2564400"/>
          </a:xfrm>
          <a:prstGeom prst="roundRect">
            <a:avLst>
              <a:gd fmla="val 4255" name="adj"/>
            </a:avLst>
          </a:prstGeom>
          <a:solidFill>
            <a:srgbClr val="F5F6F8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Error Measures &amp; Model Selection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22950" y="4526275"/>
            <a:ext cx="10515600" cy="18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Error metrics: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MAE, MAPE, sMAPE, RMSE (computed per item, per model)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Stationarity checks: </a:t>
            </a: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Augmented Dickey-Fuller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 (ADF),</a:t>
            </a:r>
            <a:r>
              <a:rPr lang="en-US">
                <a:solidFill>
                  <a:schemeClr val="dk1"/>
                </a:solidFill>
                <a:highlight>
                  <a:srgbClr val="F3F3F3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>
                <a:solidFill>
                  <a:schemeClr val="dk1"/>
                </a:solidFill>
                <a:highlight>
                  <a:srgbClr val="F3F3F3"/>
                </a:highlight>
                <a:latin typeface="Calibri"/>
                <a:ea typeface="Calibri"/>
                <a:cs typeface="Calibri"/>
                <a:sym typeface="Calibri"/>
              </a:rPr>
              <a:t>Kwiatkowski-Phillips-Schmidt-Shin</a:t>
            </a:r>
            <a:r>
              <a:rPr b="1" lang="en-US">
                <a:solidFill>
                  <a:srgbClr val="C7C7C7"/>
                </a:solidFill>
                <a:highlight>
                  <a:srgbClr val="F3F3F3"/>
                </a:highlight>
              </a:rPr>
              <a:t>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KPSS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Model-fit checks: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Akaike Information Criterion (AIC), Bayesian Information Criterion (BIC)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Model selection: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CRITIC method — objective, data-driven weighting of error metrics (no subjective cutoffs)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Historical Series Behavior &amp; Stationarity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109" y="1371625"/>
            <a:ext cx="6169200" cy="420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6766560" y="1463040"/>
            <a:ext cx="4892040" cy="4206240"/>
          </a:xfrm>
          <a:prstGeom prst="roundRect">
            <a:avLst>
              <a:gd fmla="val 2174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6995160" y="164592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What This Tells 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995160" y="2103120"/>
            <a:ext cx="44348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61.8% of series are stationary by both tests — high reliability for classical models like SARIMA.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19.7% pass neither test, suggesting non-stationary behavior that is harder to forecast.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AIC and BIC values were strongly correlated across models, reinforcing robust model selection.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One extreme AIC outlier (≈ −750) was flagged for review — illustrates the value of automated diagnostics on large datasets.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Results — Demand &amp; Value Classification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5212080" cy="393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1371600"/>
            <a:ext cx="557784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/>
          <p:nvPr/>
        </p:nvSpPr>
        <p:spPr>
          <a:xfrm>
            <a:off x="457200" y="5660400"/>
            <a:ext cx="11247000" cy="836100"/>
          </a:xfrm>
          <a:prstGeom prst="rect">
            <a:avLst/>
          </a:prstGeom>
          <a:solidFill>
            <a:srgbClr val="FDF1DC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alibri"/>
              <a:buNone/>
            </a:pPr>
            <a:r>
              <a:rPr b="0" i="1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Only 82 items (4% of SKUs) account for 80% of consumption value — these Class A items justify closer forecasting scrutiny. Meanwhile, 52% of all items show erratic demand, the hardest pattern to forecast accurately.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Results — Overall Model Performance (CRITIC Score)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7589520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3"/>
          <p:cNvSpPr/>
          <p:nvPr/>
        </p:nvSpPr>
        <p:spPr>
          <a:xfrm>
            <a:off x="8321040" y="1371600"/>
            <a:ext cx="3291840" cy="2011680"/>
          </a:xfrm>
          <a:prstGeom prst="roundRect">
            <a:avLst>
              <a:gd fmla="val 4545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8549640" y="15544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#1 Random Forest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8549640" y="1965960"/>
            <a:ext cx="2834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for 691 SKUs (30.8%). Strongest on Erratic, Intermittent, and Irregular demand — handles high variability well.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8321040" y="3566160"/>
            <a:ext cx="3291840" cy="2194560"/>
          </a:xfrm>
          <a:prstGeom prst="roundRect">
            <a:avLst>
              <a:gd fmla="val 4167" name="adj"/>
            </a:avLst>
          </a:prstGeom>
          <a:solidFill>
            <a:srgbClr val="5C72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8549640" y="3749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1DC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FDF1DC"/>
                </a:solidFill>
                <a:latin typeface="Calibri"/>
                <a:ea typeface="Calibri"/>
                <a:cs typeface="Calibri"/>
                <a:sym typeface="Calibri"/>
              </a:rPr>
              <a:t>#2 Exp. Smoothing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8549640" y="4160520"/>
            <a:ext cx="2834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for 595 SKUs (26.5%). Second-best for Intermittent and Erratic demand, close to Random Forest on those groups.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Results — Best Model by Demand Type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758952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/>
          <p:nvPr/>
        </p:nvSpPr>
        <p:spPr>
          <a:xfrm>
            <a:off x="8229600" y="1371600"/>
            <a:ext cx="3429000" cy="4480560"/>
          </a:xfrm>
          <a:prstGeom prst="roundRect">
            <a:avLst>
              <a:gd fmla="val 2667" name="adj"/>
            </a:avLst>
          </a:prstGeom>
          <a:solidFill>
            <a:srgbClr val="F5F6F8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8458200" y="15544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8458200" y="2011680"/>
            <a:ext cx="30175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8775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Irregular &amp; Intermittent → Random Forest (41–45%)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Regular → Holt-Winters (25%)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Erratic → No model dominates (Random Forest &amp; Exp. Smoothing close, ~23–24%)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Class A items (80% of value) → Holt-Winters performed best overall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Relevance to My Final Year Project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300"/>
              <a:buFont typeface="Calibri"/>
              <a:buNone/>
            </a:pPr>
            <a:r>
              <a:rPr b="0" i="1" lang="en-US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This seminar is based on the energy-sector base paper above. My own final year project applies the same core ideas to a different, smaller-scale context.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548640" y="1920240"/>
            <a:ext cx="5394960" cy="3977640"/>
          </a:xfrm>
          <a:prstGeom prst="roundRect">
            <a:avLst>
              <a:gd fmla="val 2299" name="adj"/>
            </a:avLst>
          </a:prstGeom>
          <a:solidFill>
            <a:srgbClr val="F5F6F8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Base Paper (this seminar)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822960" y="2560320"/>
            <a:ext cx="48463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Domain: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Large energy company, Brazil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Scale: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2,244 SKUs, enterprise ERP (SAP R/3)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Models: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Random Forest, XGBoost, Exp. Smoothing, Holt, Holt-Winters, SARIMA</a:t>
            </a:r>
            <a:b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Identify the best forecasting model per demand type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263640" y="1920240"/>
            <a:ext cx="5394960" cy="3977640"/>
          </a:xfrm>
          <a:prstGeom prst="roundRect">
            <a:avLst>
              <a:gd fmla="val 2299" name="adj"/>
            </a:avLst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My Project — NexusERP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537960" y="2560320"/>
            <a:ext cx="48463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Domain: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 businesses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Scale: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Lightweight web-based ERP (FastAPI, PostgreSQL, React)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Forecasting: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AI-driven demand forecasting module using Facebook Prophet</a:t>
            </a:r>
            <a:b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Bring the same demand-aware forecasting principles to businesses too small for enterprise ERP systems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Results Summary — Table 3 (Base Paper)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914400" y="1737360"/>
            <a:ext cx="3840480" cy="566928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914400" y="173736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4754880" y="1737360"/>
            <a:ext cx="3200400" cy="566928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4754880" y="173736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SKUs Won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7955280" y="1737360"/>
            <a:ext cx="3200400" cy="566928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7955280" y="173736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 of Total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914400" y="2304288"/>
            <a:ext cx="384048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914400" y="230428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754880" y="2304288"/>
            <a:ext cx="320040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4754880" y="230428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691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7955280" y="2304288"/>
            <a:ext cx="320040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7955280" y="230428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30.79%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914400" y="2871216"/>
            <a:ext cx="3840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914400" y="2871216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Exp. Smoothing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4754880" y="2871216"/>
            <a:ext cx="3200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4754880" y="2871216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595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7955280" y="2871216"/>
            <a:ext cx="3200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7955280" y="2871216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26.52%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914400" y="3438144"/>
            <a:ext cx="384048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914400" y="3438144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SARIMA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4754880" y="3438144"/>
            <a:ext cx="320040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4754880" y="3438144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294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7955280" y="3438144"/>
            <a:ext cx="320040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7955280" y="3438144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13.10%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914400" y="4005072"/>
            <a:ext cx="3840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914400" y="4005072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Holt-Winters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4754880" y="4005072"/>
            <a:ext cx="3200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4754880" y="4005072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239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7955280" y="4005072"/>
            <a:ext cx="3200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7955280" y="4005072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10.65%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914400" y="4572000"/>
            <a:ext cx="384048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914400" y="457200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Holt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754880" y="4572000"/>
            <a:ext cx="320040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4754880" y="457200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228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7955280" y="4572000"/>
            <a:ext cx="3200400" cy="566928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7955280" y="457200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10.16%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914400" y="5138928"/>
            <a:ext cx="384048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914400" y="513892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4754880" y="5138928"/>
            <a:ext cx="3200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4754880" y="513892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7955280" y="5138928"/>
            <a:ext cx="320040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7955280" y="513892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8.78%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548640" y="6071616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Total base: 2,244 items — Random Forest and Exponential Smoothing together account for over 57% of best-fit predictions across the entire dataset.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"/>
          <p:cNvSpPr/>
          <p:nvPr/>
        </p:nvSpPr>
        <p:spPr>
          <a:xfrm>
            <a:off x="9875520" y="-1097280"/>
            <a:ext cx="3474720" cy="3474720"/>
          </a:xfrm>
          <a:prstGeom prst="ellipse">
            <a:avLst/>
          </a:prstGeom>
          <a:solidFill>
            <a:srgbClr val="243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 and Future Work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Summary of Findings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548650" y="1645925"/>
            <a:ext cx="6400800" cy="3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DF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No single model is ideal for all series — model choice should follow demand type.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9EDF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Random Forest is superior for irregular and intermittent demand (ensemble methods excel with high variability).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9EDF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Holt-Winters remains the most reliable for regular, seasonal demand.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9EDF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Erratic demand (52% of items) resists all six models — an open forecasting challenge.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9EDF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The joint use of behavioral classification (ADI/CV²) and ABC value classification lets managers focus rigorous analysis on the 82 Class A items driving 80% of value.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7174350" y="1234450"/>
            <a:ext cx="4438500" cy="4002900"/>
          </a:xfrm>
          <a:prstGeom prst="roundRect">
            <a:avLst>
              <a:gd fmla="val 2439" name="adj"/>
            </a:avLst>
          </a:prstGeom>
          <a:solidFill>
            <a:srgbClr val="243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7498080" y="14173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7498080" y="182880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EDF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Extend forecasts into inventory sizing: safety stock, reorder point calculations.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9EDF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Explore hybrid / deep-learning models for erratic demand.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E9EDF3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E9EDF3"/>
                </a:solidFill>
                <a:latin typeface="Calibri"/>
                <a:ea typeface="Calibri"/>
                <a:cs typeface="Calibri"/>
                <a:sym typeface="Calibri"/>
              </a:rPr>
              <a:t>Continuously re-evaluate model choice as new data and scenarios emerge — no model stays optimal indefinitely.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563878" y="5403610"/>
            <a:ext cx="11064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1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Limitation: applying these results in practice requires additional inventory-planning calculations (safety stock, order point) beyond forecast accuracy alone.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Limitations of the Base Paper's Approach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548650" y="1463051"/>
            <a:ext cx="5394900" cy="217080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"/>
          <p:cNvSpPr/>
          <p:nvPr/>
        </p:nvSpPr>
        <p:spPr>
          <a:xfrm>
            <a:off x="822440" y="1462983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Forecast accuracy ≠ inventory policy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777250" y="1965775"/>
            <a:ext cx="4937700" cy="13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rPr lang="en-US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The study evaluates statistical metrics (MAE, RMSE, MAPE) but does not translate forecasts into decision variables like safety stock level, reorder point (ROP), or economic order quantity (EOQ).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263650" y="1463052"/>
            <a:ext cx="5394900" cy="217080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6492215" y="1463045"/>
            <a:ext cx="493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Erratic demand remains unsolved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6492250" y="2146650"/>
            <a:ext cx="50565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Over 52% of all spare parts exhibited erratic behavior, yet no evaluated model achieved dominant accuracy, leaving a significant performance gap.</a:t>
            </a:r>
            <a:endParaRPr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593850" y="3998099"/>
            <a:ext cx="5394900" cy="217080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777250" y="4023350"/>
            <a:ext cx="49377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Static evaluation window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777250" y="4451450"/>
            <a:ext cx="49377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Relies on a single 80/20 temporal split (2020–2023 vs. 2024); model rankings could fluctuate under expanding rolling-origin evaluations</a:t>
            </a:r>
            <a:endParaRPr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6263650" y="3998099"/>
            <a:ext cx="5394900" cy="217080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6492250" y="4023349"/>
            <a:ext cx="49377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50"/>
              <a:buFont typeface="Calibri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Enterprise-scale tooling assumed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6492250" y="4451449"/>
            <a:ext cx="4937700" cy="15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Assumes access to SAP R/3 ERP data lakes and local Python/Spyder scripting environments — creating adoption barriers for small businesses.</a:t>
            </a:r>
            <a:endParaRPr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/>
          <p:nvPr/>
        </p:nvSpPr>
        <p:spPr>
          <a:xfrm>
            <a:off x="548640" y="365760"/>
            <a:ext cx="11091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Char char="❖"/>
            </a:pPr>
            <a:r>
              <a:rPr b="0" i="0" lang="en-US" sz="15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Silva, L.F. et al. (2026). Combining demand classification and forecasting models in spare parts inventory management for the energy sector. Int J Adv Manuf Technol, 144, 355–366. https://doi.org/10.1007/s00170-026-17483-1</a:t>
            </a:r>
            <a:endParaRPr sz="150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Char char="❖"/>
            </a:pPr>
            <a:r>
              <a:rPr b="0" i="0" lang="en-US" sz="15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Da Silva, L.F. et al. (2024). Demand Forecasting for Steel Company Spare Items with Time Series Templates. Procedia Computer Science, 57–64.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Char char="❖"/>
            </a:pPr>
            <a:r>
              <a:rPr b="0" i="0" lang="en-US" sz="15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Diakoulaki, D., Mavrotas, G., Papayannakis, L. (1995). Determining objective weights in multiple criteria problems: the CRITIC method.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Char char="❖"/>
            </a:pPr>
            <a:r>
              <a:rPr b="0" i="0" lang="en-US" sz="15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Kramar, V., Alchakov, V. (2023). Time-series forecasting of seasonal data using machine learning methods. Algorithms.</a:t>
            </a:r>
            <a:endParaRPr sz="150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Char char="❖"/>
            </a:pPr>
            <a:r>
              <a:rPr lang="en-US" sz="15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Barbosa, N., Christo, E.S., Costa, K.A. (2015). Demand forecasting for production planning in a food company.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Char char="❖"/>
            </a:pPr>
            <a:r>
              <a:rPr lang="en-US" sz="15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Syntetos, A.A., Boylan, J.E. (2001). On the bias of intermittent demand estimates. Int J Prod Econ, 71(1–3), 457–466.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Char char="❖"/>
            </a:pPr>
            <a:r>
              <a:rPr lang="en-US" sz="15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Holt, C.C. (2004). Forecasting seasonals and trends by exponentially weighted moving averages. Int J Forecast, 20(1), 5–10.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Char char="❖"/>
            </a:pPr>
            <a:r>
              <a:rPr lang="en-US" sz="1500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Winters, P.R. Forecasting sales by exponentially weighted moving averages. JSTOR.</a:t>
            </a:r>
            <a:endParaRPr sz="1500">
              <a:solidFill>
                <a:srgbClr val="1B2A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/>
          <p:nvPr/>
        </p:nvSpPr>
        <p:spPr>
          <a:xfrm>
            <a:off x="-840575" y="3527275"/>
            <a:ext cx="4114800" cy="4114800"/>
          </a:xfrm>
          <a:prstGeom prst="ellipse">
            <a:avLst/>
          </a:prstGeom>
          <a:solidFill>
            <a:srgbClr val="1B2A41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548640" y="210312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1"/>
                </a:solidFill>
                <a:latin typeface="Cambria"/>
                <a:ea typeface="Cambria"/>
                <a:cs typeface="Cambria"/>
                <a:sym typeface="Cambria"/>
              </a:rPr>
              <a:t>Acknowledgements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1828800" y="3108960"/>
            <a:ext cx="8503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500"/>
              <a:buFont typeface="Calibri"/>
              <a:buNone/>
            </a:pPr>
            <a:r>
              <a:rPr b="0" i="0" lang="en-US" sz="1600" u="none" cap="none" strike="noStrike">
                <a:solidFill>
                  <a:srgbClr val="1B2A41"/>
                </a:solidFill>
                <a:latin typeface="Calibri"/>
                <a:ea typeface="Calibri"/>
                <a:cs typeface="Calibri"/>
                <a:sym typeface="Calibri"/>
              </a:rPr>
              <a:t>I sincerely thank my Seminar Guide and the Department of Computer Science and Engineering, Amal Jyothi College of Engineering, for their guidance and support throughout this seminar.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/>
          <p:nvPr/>
        </p:nvSpPr>
        <p:spPr>
          <a:xfrm>
            <a:off x="7853895" y="-1654050"/>
            <a:ext cx="4572000" cy="4572000"/>
          </a:xfrm>
          <a:prstGeom prst="ellipse">
            <a:avLst/>
          </a:prstGeom>
          <a:solidFill>
            <a:srgbClr val="243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300525" y="4526288"/>
            <a:ext cx="4114800" cy="4114800"/>
          </a:xfrm>
          <a:prstGeom prst="ellipse">
            <a:avLst/>
          </a:prstGeom>
          <a:solidFill>
            <a:srgbClr val="E8A33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Questions?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484640" y="3543310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This work informs my final year project, NexusERP — an AI-powered inventory forecasting system for small businesses.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